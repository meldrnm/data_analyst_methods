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PT Sans"/>
      <p:regular r:id="rId20"/>
      <p:bold r:id="rId21"/>
      <p:italic r:id="rId22"/>
      <p:boldItalic r:id="rId23"/>
    </p:embeddedFont>
    <p:embeddedFont>
      <p:font typeface="Ex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4" Type="http://schemas.openxmlformats.org/officeDocument/2006/relationships/font" Target="fonts/Exo-regular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xo-italic.fntdata"/><Relationship Id="rId25" Type="http://schemas.openxmlformats.org/officeDocument/2006/relationships/font" Target="fonts/Exo-bold.fntdata"/><Relationship Id="rId27" Type="http://schemas.openxmlformats.org/officeDocument/2006/relationships/font" Target="fonts/Ex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2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 txBox="1"/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rotWithShape="0" algn="bl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3"/>
          <p:cNvSpPr txBox="1"/>
          <p:nvPr>
            <p:ph idx="1" type="subTitle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"/>
          <p:cNvSpPr txBox="1"/>
          <p:nvPr>
            <p:ph hasCustomPrompt="1" idx="2" type="title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flipH="1" rot="10800000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flipH="1" rot="-5400000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271" name="Google Shape;271;p4"/>
          <p:cNvGrpSpPr/>
          <p:nvPr/>
        </p:nvGrpSpPr>
        <p:grpSpPr>
          <a:xfrm flipH="1" rot="5400000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9" name="Google Shape;349;p5"/>
          <p:cNvSpPr txBox="1"/>
          <p:nvPr>
            <p:ph idx="2" type="title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5"/>
          <p:cNvSpPr txBox="1"/>
          <p:nvPr>
            <p:ph idx="1" type="subTitle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"/>
          <p:cNvSpPr txBox="1"/>
          <p:nvPr>
            <p:ph idx="3" type="title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"/>
          <p:cNvSpPr txBox="1"/>
          <p:nvPr>
            <p:ph idx="4" type="subTitle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flipH="1" rot="5400000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flipH="1" rot="5400000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flipH="1" rot="10800000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7"/>
          <p:cNvSpPr txBox="1"/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3" name="Google Shape;533;p7"/>
          <p:cNvSpPr txBox="1"/>
          <p:nvPr>
            <p:ph idx="1" type="subTitle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8"/>
          <p:cNvSpPr txBox="1"/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flipH="1" rot="-5400000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flipH="1" rot="-5400000">
            <a:off x="1059557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9"/>
          <p:cNvSpPr txBox="1"/>
          <p:nvPr>
            <p:ph idx="1" type="subTitle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9"/>
          <p:cNvSpPr txBox="1"/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flipH="1" rot="10800000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Exo"/>
                <a:ea typeface="Exo"/>
                <a:cs typeface="Exo"/>
                <a:sym typeface="Ex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11"/>
          <p:cNvSpPr txBox="1"/>
          <p:nvPr>
            <p:ph hasCustomPrompt="1"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/>
          <p:nvPr>
            <p:ph idx="1" type="subTitle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71" name="Google Shape;971;p13"/>
          <p:cNvSpPr txBox="1"/>
          <p:nvPr>
            <p:ph idx="2" type="title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13"/>
          <p:cNvSpPr txBox="1"/>
          <p:nvPr>
            <p:ph idx="1" type="subTitle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3"/>
          <p:cNvSpPr txBox="1"/>
          <p:nvPr>
            <p:ph hasCustomPrompt="1" idx="3" type="title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/>
          <p:nvPr>
            <p:ph idx="4" type="title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5" name="Google Shape;975;p13"/>
          <p:cNvSpPr txBox="1"/>
          <p:nvPr>
            <p:ph idx="5" type="subTitle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13"/>
          <p:cNvSpPr txBox="1"/>
          <p:nvPr>
            <p:ph hasCustomPrompt="1"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/>
          <p:nvPr>
            <p:ph idx="7" type="title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13"/>
          <p:cNvSpPr txBox="1"/>
          <p:nvPr>
            <p:ph idx="8" type="subTitle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13"/>
          <p:cNvSpPr txBox="1"/>
          <p:nvPr>
            <p:ph hasCustomPrompt="1"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/>
          <p:nvPr>
            <p:ph idx="13" type="title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13"/>
          <p:cNvSpPr txBox="1"/>
          <p:nvPr>
            <p:ph idx="14" type="subTitle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13"/>
          <p:cNvSpPr txBox="1"/>
          <p:nvPr>
            <p:ph hasCustomPrompt="1" idx="15" type="title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/>
          <p:nvPr>
            <p:ph idx="16" type="title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hasCustomPrompt="1" idx="18" type="title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/>
          <p:nvPr>
            <p:ph idx="19" type="title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flipH="1" rot="5400000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3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14"/>
          <p:cNvSpPr txBox="1"/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14"/>
          <p:cNvSpPr txBox="1"/>
          <p:nvPr>
            <p:ph idx="1" type="subTitle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05" name="Google Shape;1105;p14"/>
          <p:cNvSpPr/>
          <p:nvPr/>
        </p:nvSpPr>
        <p:spPr>
          <a:xfrm flipH="1" rot="-5400000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4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15"/>
          <p:cNvSpPr txBox="1"/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89" name="Google Shape;1189;p15"/>
          <p:cNvSpPr txBox="1"/>
          <p:nvPr>
            <p:ph idx="1" type="subTitle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0" name="Google Shape;1190;p15"/>
          <p:cNvSpPr txBox="1"/>
          <p:nvPr>
            <p:ph hasCustomPrompt="1" idx="2" type="title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5"/>
          <p:cNvSpPr/>
          <p:nvPr/>
        </p:nvSpPr>
        <p:spPr>
          <a:xfrm flipH="1" rot="10800000">
            <a:off x="2891470" y="4842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Google Shape;1263;p16"/>
          <p:cNvSpPr txBox="1"/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4" name="Google Shape;1264;p16"/>
          <p:cNvSpPr txBox="1"/>
          <p:nvPr>
            <p:ph idx="1" type="subTitle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5" name="Google Shape;1265;p16"/>
          <p:cNvSpPr txBox="1"/>
          <p:nvPr>
            <p:ph hasCustomPrompt="1" idx="2" type="title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flipH="1" rot="10800000">
            <a:off x="2358070" y="4766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3" name="Google Shape;1343;p17"/>
          <p:cNvSpPr txBox="1"/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44" name="Google Shape;1344;p17"/>
          <p:cNvSpPr txBox="1"/>
          <p:nvPr>
            <p:ph idx="1" type="subTitle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6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0" name="Google Shape;1430;p18"/>
          <p:cNvSpPr txBox="1"/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31" name="Google Shape;1431;p18"/>
          <p:cNvSpPr txBox="1"/>
          <p:nvPr>
            <p:ph idx="1" type="subTitle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0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1" name="Google Shape;1531;p19"/>
          <p:cNvSpPr txBox="1"/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2" name="Google Shape;1532;p19"/>
          <p:cNvSpPr txBox="1"/>
          <p:nvPr>
            <p:ph idx="1" type="subTitle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19"/>
          <p:cNvSpPr txBox="1"/>
          <p:nvPr>
            <p:ph idx="2" type="title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4" name="Google Shape;1534;p19"/>
          <p:cNvSpPr txBox="1"/>
          <p:nvPr>
            <p:ph idx="3" type="subTitle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6" name="Google Shape;1566;p19"/>
          <p:cNvSpPr txBox="1"/>
          <p:nvPr>
            <p:ph idx="4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7" name="Google Shape;1607;p20"/>
          <p:cNvSpPr txBox="1"/>
          <p:nvPr>
            <p:ph idx="1" type="subTitle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8" name="Google Shape;1608;p20"/>
          <p:cNvSpPr txBox="1"/>
          <p:nvPr>
            <p:ph idx="2" type="subTitle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6" name="Google Shape;1656;p20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2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98" name="Google Shape;1698;p21"/>
          <p:cNvSpPr txBox="1"/>
          <p:nvPr>
            <p:ph idx="2" type="title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9" name="Google Shape;1699;p21"/>
          <p:cNvSpPr txBox="1"/>
          <p:nvPr>
            <p:ph idx="1" type="subTitle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21"/>
          <p:cNvSpPr txBox="1"/>
          <p:nvPr>
            <p:ph idx="3" type="title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1" name="Google Shape;1701;p21"/>
          <p:cNvSpPr txBox="1"/>
          <p:nvPr>
            <p:ph idx="4" type="subTitle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2" name="Google Shape;1702;p21"/>
          <p:cNvSpPr txBox="1"/>
          <p:nvPr>
            <p:ph idx="5" type="title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3" name="Google Shape;1703;p21"/>
          <p:cNvSpPr txBox="1"/>
          <p:nvPr>
            <p:ph idx="6" type="subTitle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flipH="1" rot="5400000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flipH="1" rot="-5400000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6"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p22"/>
          <p:cNvSpPr txBox="1"/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1" name="Google Shape;1781;p22"/>
          <p:cNvSpPr txBox="1"/>
          <p:nvPr>
            <p:ph idx="1" type="subTitle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2" name="Google Shape;1782;p22"/>
          <p:cNvSpPr txBox="1"/>
          <p:nvPr>
            <p:ph idx="2" type="title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3" name="Google Shape;1783;p22"/>
          <p:cNvSpPr txBox="1"/>
          <p:nvPr>
            <p:ph idx="3" type="subTitle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22"/>
          <p:cNvSpPr txBox="1"/>
          <p:nvPr>
            <p:ph idx="4" type="title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5" name="Google Shape;1785;p22"/>
          <p:cNvSpPr txBox="1"/>
          <p:nvPr>
            <p:ph idx="5" type="subTitle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22"/>
          <p:cNvSpPr txBox="1"/>
          <p:nvPr>
            <p:ph idx="6" type="title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7" name="Google Shape;1787;p22"/>
          <p:cNvSpPr txBox="1"/>
          <p:nvPr>
            <p:ph idx="7" type="subTitle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/>
          <p:nvPr>
            <p:ph idx="8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2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95" name="Google Shape;1895;p23"/>
          <p:cNvSpPr txBox="1"/>
          <p:nvPr>
            <p:ph idx="2" type="title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6" name="Google Shape;1896;p23"/>
          <p:cNvSpPr txBox="1"/>
          <p:nvPr>
            <p:ph idx="1" type="subTitle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7" name="Google Shape;1897;p23"/>
          <p:cNvSpPr txBox="1"/>
          <p:nvPr>
            <p:ph idx="3" type="title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8" name="Google Shape;1898;p23"/>
          <p:cNvSpPr txBox="1"/>
          <p:nvPr>
            <p:ph idx="4" type="subTitle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9" name="Google Shape;1899;p23"/>
          <p:cNvSpPr txBox="1"/>
          <p:nvPr>
            <p:ph idx="5" type="title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0" name="Google Shape;1900;p23"/>
          <p:cNvSpPr txBox="1"/>
          <p:nvPr>
            <p:ph idx="6" type="subTitle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1" name="Google Shape;1901;p23"/>
          <p:cNvSpPr txBox="1"/>
          <p:nvPr>
            <p:ph idx="7" type="title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2" name="Google Shape;1902;p23"/>
          <p:cNvSpPr txBox="1"/>
          <p:nvPr>
            <p:ph idx="8" type="subTitle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3"/>
          <p:cNvSpPr txBox="1"/>
          <p:nvPr>
            <p:ph idx="9" type="title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4" name="Google Shape;1904;p23"/>
          <p:cNvSpPr txBox="1"/>
          <p:nvPr>
            <p:ph idx="13" type="subTitle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5" name="Google Shape;1905;p23"/>
          <p:cNvSpPr txBox="1"/>
          <p:nvPr>
            <p:ph idx="14" type="title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6" name="Google Shape;1906;p23"/>
          <p:cNvSpPr txBox="1"/>
          <p:nvPr>
            <p:ph idx="15" type="subTitle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4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9" name="Google Shape;2219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0" name="Google Shape;2260;p2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61" name="Google Shape;2261;p26"/>
          <p:cNvSpPr txBox="1"/>
          <p:nvPr>
            <p:ph idx="2" type="title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2" name="Google Shape;2262;p26"/>
          <p:cNvSpPr txBox="1"/>
          <p:nvPr>
            <p:ph idx="1" type="subTitle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3" name="Google Shape;2263;p26"/>
          <p:cNvSpPr txBox="1"/>
          <p:nvPr>
            <p:ph hasCustomPrompt="1" idx="3" type="title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/>
          <p:nvPr>
            <p:ph idx="4" type="title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5" name="Google Shape;2265;p26"/>
          <p:cNvSpPr txBox="1"/>
          <p:nvPr>
            <p:ph idx="5" type="subTitle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26"/>
          <p:cNvSpPr txBox="1"/>
          <p:nvPr>
            <p:ph hasCustomPrompt="1" idx="6" type="title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/>
          <p:nvPr>
            <p:ph idx="7" type="title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8" name="Google Shape;2268;p26"/>
          <p:cNvSpPr txBox="1"/>
          <p:nvPr>
            <p:ph idx="8" type="subTitle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9" name="Google Shape;2269;p26"/>
          <p:cNvSpPr txBox="1"/>
          <p:nvPr>
            <p:ph hasCustomPrompt="1" idx="9" type="title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2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7" name="Google Shape;2347;p27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48" name="Google Shape;2348;p27"/>
          <p:cNvSpPr txBox="1"/>
          <p:nvPr>
            <p:ph idx="1" type="subTitle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3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2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2_1"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b="1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/>
          <p:nvPr>
            <p:ph idx="1" type="subTitle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Teoría, Matemáticas, Implementación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2" name="Google Shape;2752;p31"/>
          <p:cNvSpPr txBox="1"/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Regresión Logística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Introducción a la Regresión Logística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regresión logística es un método estadístico usado para modelar la probabilidad de un evento binario o categórico. Es ampliamente utilizada en clasificación, por ejemplo, para predecir resultados como éxito/fallo, si un paciente tiene o no una enfermedad.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Diferencia entre Regresión Lineal y Logística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 diferencia de la regresión lineal, que predice valores continuos, la regresión logística predice probabilidades entre 0 y 1 mediante una función sigmoide, lo que la hace adecuada para clasificación binaria.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Función Sigmoide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función sigmoide se define como: \( \sigma(z) = \frac{1}{1 + e^{-z}} \). Transforma cualquier valor real en un rango entre 0 y 1, facilitando la interpretación como probabilidad.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Modelo Matemático de Regresión Logística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modelo predice la probabilidad \( p \) de la clase 1: \( p = \sigma(\beta_0 + \beta_1 x_1 + \beta_2 x_2 + \cdots + \beta_n x_n) \), donde \( \beta_i \) son los coeficientes del modelo.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Función de Pérdida: Verosimilitud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Para ajustar los coeficientes se maximiza la verosimilitud, o equivalentemente, se minimiza la pérdida logarítmica (log-loss):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\( L = -\frac{1}{m} \sum_{i=1}^m [y^{(i)} \log p^{(i)} + (1 - y^{(i)}) \log (1 - p^{(i)})] \)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 Coeficientes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Cada coeficiente \( \beta_j \) indica cuánto cambia el logaritmo del odds por unidad de cambio en la variable \( x_j \). Un coeficiente positivo aumenta la probabilidad, uno negativo la disminuye.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Ventajas y Limitaciones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Ventajas: fácil implementar, interpretabilidad, resultados probabilísticos.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Limitaciones: funciona mejor para variables linealmente relacionadas con el logit, puede tener problemas con variables correlacionadas.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 - Preparación de Datos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Importaremos librerías y crearemos datos simples: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```python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import numpy as np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import pandas as pd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from sklearn.model_selection import train_test_split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from sklearn.linear_model import LogisticRegression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# Crear dataset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X = np.array([[1], [2], [3], [4], [5], [6], [7], [8]])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y = np.array([0, 0, 0, 0, 1, 1, 1, 1])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# Dividir datos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X_train, X_test, y_train, y_test = train_test_split(X, y, test_size=0.25, random_state=0)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```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0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 - Entrenamiento del Modelo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Entrenamos un modelo de regresión logística con los datos: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```python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# Crear y entrenar modelo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model = LogisticRegression()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model.fit(X_train, y_train)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```</a:t>
            </a:r>
            <a:endParaRPr sz="240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 - Predicción y Evaluación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Realizamos predicciones y evaluamos precisión: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```python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# Predecir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predictions = model.predict(X_test)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# Evaluar precisión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accuracy = model.score(X_test, y_test)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print("Precisión:", accuracy)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```</a:t>
            </a:r>
            <a:endParaRPr sz="240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6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del Modelo en Python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Podemos observar los coeficientes del modelo: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```python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print("Coeficiente:", model.coef_)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print("Intercepto:", model.intercept_)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```</a:t>
            </a:r>
            <a:endParaRPr sz="24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Práctico: Tu Propio Modelo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Desafío: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Crea un dataset con dos características (feature1, feature2) y salida binaria.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Usa LogisticRegression para entrenar.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Evalúa y muestra la precisión.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Experimenta cambiando datos para ver cómo cambia el modelo.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Recapitulación de la Regresión Logística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Repasamos: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Concepto y uso principal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Función sigmoide y fórmula matemática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Entrenamiento y evaluación en Python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Interpretación de resultados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regresión logística es una herramienta fundamental para clasificación binaria en análisis de datos. Su comprensión teórica y práctica permite aplicar modelos predictivos efectivos y entender relaciones probabilísticas entre variables. La implementación en Python facilita su aplicación en múltiples contextos.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