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Exo" panose="020B0604020202020204" charset="0"/>
      <p:regular r:id="rId18"/>
      <p:bold r:id="rId19"/>
      <p:italic r:id="rId20"/>
      <p:boldItalic r:id="rId21"/>
    </p:embeddedFont>
    <p:embeddedFont>
      <p:font typeface="PT Sans" panose="020B0503020203020204" pitchFamily="34" charset="0"/>
      <p:regular r:id="rId22"/>
      <p:bold r:id="rId23"/>
      <p:italic r:id="rId24"/>
      <p:boldItalic r:id="rId25"/>
    </p:embeddedFont>
    <p:embeddedFont>
      <p:font typeface="Roboto Condensed Light" panose="02000000000000000000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a4a3d2f2c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3a4a3d2f2c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3a4a3d2f2c9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3a4a3d2f2c9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a4a3d2f2c9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a4a3d2f2c9_3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a4a3d2f2c9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a4a3d2f2c9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a4a3d2f2c9_3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a4a3d2f2c9_3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a4a3d2f2c9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a4a3d2f2c9_3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3a4a3d2f2c9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3a4a3d2f2c9_3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a4a3d2f2c9_3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3a4a3d2f2c9_3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a4a3d2f2c9_3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3a4a3d2f2c9_3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a4a3d2f2c9_3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a4a3d2f2c9_3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3a4a3d2f2c9_3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4" name="Google Shape;2924;g3a4a3d2f2c9_3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5"/>
          <p:cNvSpPr txBox="1">
            <a:spLocks noGrp="1"/>
          </p:cNvSpPr>
          <p:nvPr>
            <p:ph type="title" idx="2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5"/>
          <p:cNvSpPr txBox="1">
            <a:spLocks noGrp="1"/>
          </p:cNvSpPr>
          <p:nvPr>
            <p:ph type="subTitle" idx="1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title" idx="3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4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rot="5400000" flipH="1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rot="5400000" flipH="1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rot="10800000" flipH="1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7"/>
          <p:cNvSpPr txBox="1">
            <a:spLocks noGrp="1"/>
          </p:cNvSpPr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subTitle" idx="1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rot="-5400000" flipH="1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rot="-5400000" flipH="1">
            <a:off x="1059557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Exo"/>
                <a:ea typeface="Exo"/>
                <a:cs typeface="Exo"/>
                <a:sym typeface="Ex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3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4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864525" y="2215425"/>
            <a:ext cx="6772200" cy="81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864525" y="3045400"/>
            <a:ext cx="6646200" cy="7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864525" y="910725"/>
            <a:ext cx="2130300" cy="1304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2891470" y="4842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8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713100" y="2310138"/>
            <a:ext cx="75834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3567000" y="3208800"/>
            <a:ext cx="4729500" cy="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5961000" y="1332575"/>
            <a:ext cx="23355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2358070" y="4766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6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0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7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5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6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22"/>
          <p:cNvSpPr txBox="1">
            <a:spLocks noGrp="1"/>
          </p:cNvSpPr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1" name="Google Shape;1781;p22"/>
          <p:cNvSpPr txBox="1">
            <a:spLocks noGrp="1"/>
          </p:cNvSpPr>
          <p:nvPr>
            <p:ph type="subTitle" idx="1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2" name="Google Shape;1782;p22"/>
          <p:cNvSpPr txBox="1">
            <a:spLocks noGrp="1"/>
          </p:cNvSpPr>
          <p:nvPr>
            <p:ph type="title" idx="2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3" name="Google Shape;1783;p22"/>
          <p:cNvSpPr txBox="1">
            <a:spLocks noGrp="1"/>
          </p:cNvSpPr>
          <p:nvPr>
            <p:ph type="subTitle" idx="3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4" name="Google Shape;1784;p22"/>
          <p:cNvSpPr txBox="1">
            <a:spLocks noGrp="1"/>
          </p:cNvSpPr>
          <p:nvPr>
            <p:ph type="title" idx="4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5" name="Google Shape;1785;p22"/>
          <p:cNvSpPr txBox="1">
            <a:spLocks noGrp="1"/>
          </p:cNvSpPr>
          <p:nvPr>
            <p:ph type="subTitle" idx="5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22"/>
          <p:cNvSpPr txBox="1">
            <a:spLocks noGrp="1"/>
          </p:cNvSpPr>
          <p:nvPr>
            <p:ph type="title" idx="6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7" name="Google Shape;1787;p22"/>
          <p:cNvSpPr txBox="1">
            <a:spLocks noGrp="1"/>
          </p:cNvSpPr>
          <p:nvPr>
            <p:ph type="subTitle" idx="7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>
            <a:spLocks noGrp="1"/>
          </p:cNvSpPr>
          <p:nvPr>
            <p:ph type="title" idx="8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7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4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1"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0" name="Google Shape;2260;p2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61" name="Google Shape;2261;p26"/>
          <p:cNvSpPr txBox="1">
            <a:spLocks noGrp="1"/>
          </p:cNvSpPr>
          <p:nvPr>
            <p:ph type="title" idx="2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2" name="Google Shape;2262;p26"/>
          <p:cNvSpPr txBox="1">
            <a:spLocks noGrp="1"/>
          </p:cNvSpPr>
          <p:nvPr>
            <p:ph type="subTitle" idx="1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3" name="Google Shape;2263;p26"/>
          <p:cNvSpPr txBox="1">
            <a:spLocks noGrp="1"/>
          </p:cNvSpPr>
          <p:nvPr>
            <p:ph type="title" idx="3" hasCustomPrompt="1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>
            <a:spLocks noGrp="1"/>
          </p:cNvSpPr>
          <p:nvPr>
            <p:ph type="title" idx="4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5" name="Google Shape;2265;p26"/>
          <p:cNvSpPr txBox="1">
            <a:spLocks noGrp="1"/>
          </p:cNvSpPr>
          <p:nvPr>
            <p:ph type="subTitle" idx="5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6" name="Google Shape;2266;p26"/>
          <p:cNvSpPr txBox="1">
            <a:spLocks noGrp="1"/>
          </p:cNvSpPr>
          <p:nvPr>
            <p:ph type="title" idx="6" hasCustomPrompt="1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>
            <a:spLocks noGrp="1"/>
          </p:cNvSpPr>
          <p:nvPr>
            <p:ph type="title" idx="7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8" name="Google Shape;2268;p26"/>
          <p:cNvSpPr txBox="1">
            <a:spLocks noGrp="1"/>
          </p:cNvSpPr>
          <p:nvPr>
            <p:ph type="subTitle" idx="8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9" name="Google Shape;2269;p26"/>
          <p:cNvSpPr txBox="1">
            <a:spLocks noGrp="1"/>
          </p:cNvSpPr>
          <p:nvPr>
            <p:ph type="title" idx="9" hasCustomPrompt="1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2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2_1"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31"/>
          <p:cNvSpPr txBox="1">
            <a:spLocks noGrp="1"/>
          </p:cNvSpPr>
          <p:nvPr>
            <p:ph type="subTitle" idx="1"/>
          </p:nvPr>
        </p:nvSpPr>
        <p:spPr>
          <a:xfrm>
            <a:off x="1675175" y="3403402"/>
            <a:ext cx="57936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Conceptos, Matemáticas, Ejemplo en Python y Taller Práctico</a:t>
            </a:r>
            <a:endParaRPr/>
          </a:p>
        </p:txBody>
      </p:sp>
      <p:grpSp>
        <p:nvGrpSpPr>
          <p:cNvPr id="2694" name="Google Shape;2694;p31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95" name="Google Shape;2695;p3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1" name="Google Shape;2701;p3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2" name="Google Shape;2702;p3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09" name="Google Shape;2709;p3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4" name="Google Shape;2714;p31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15" name="Google Shape;2715;p3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16" name="Google Shape;2716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6" name="Google Shape;2726;p3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27" name="Google Shape;2727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37" name="Google Shape;2737;p3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38" name="Google Shape;2738;p3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2" name="Google Shape;2752;p31"/>
          <p:cNvSpPr txBox="1">
            <a:spLocks noGrp="1"/>
          </p:cNvSpPr>
          <p:nvPr>
            <p:ph type="ctrTitle"/>
          </p:nvPr>
        </p:nvSpPr>
        <p:spPr>
          <a:xfrm>
            <a:off x="766050" y="1132125"/>
            <a:ext cx="7592100" cy="19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T Sans"/>
                <a:ea typeface="PT Sans"/>
                <a:cs typeface="PT Sans"/>
                <a:sym typeface="PT Sans"/>
              </a:rPr>
              <a:t>Análisis Factorial para Análisis de Datos</a:t>
            </a:r>
            <a:endParaRPr sz="60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¿Qué es el Análisis Factorial?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58" name="Google Shape;2758;p3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análisis factorial es una técnica estadística usada para reducir la dimensionalidad de un conjunto de datos, identificando factores latentes que explican las correlaciones entre variables observadas.</a:t>
            </a:r>
            <a:endParaRPr sz="2400"/>
          </a:p>
        </p:txBody>
      </p:sp>
      <p:grpSp>
        <p:nvGrpSpPr>
          <p:cNvPr id="2759" name="Google Shape;2759;p3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60" name="Google Shape;2760;p3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3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Objetivos del Análisis Factorial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71" name="Google Shape;2771;p3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Reducir el número de variables. 2. Identificar estructuras subyacentes. 3. Simplificar la interpretación de datos complejos.</a:t>
            </a:r>
            <a:endParaRPr sz="2400"/>
          </a:p>
        </p:txBody>
      </p:sp>
      <p:grpSp>
        <p:nvGrpSpPr>
          <p:cNvPr id="2772" name="Google Shape;2772;p3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73" name="Google Shape;2773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3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Tipos de Análisis Factorial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84" name="Google Shape;2784;p3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Análisis Factorial Exploratorio (AFE): Descubre la estructura. 2. Análisis Factorial Confirmatorio (AFC): Verifica hipótesis previas sobre la estructura.</a:t>
            </a:r>
            <a:endParaRPr sz="2400"/>
          </a:p>
        </p:txBody>
      </p:sp>
      <p:grpSp>
        <p:nvGrpSpPr>
          <p:cNvPr id="2785" name="Google Shape;2785;p3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86" name="Google Shape;2786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3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Supuestos Básicos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7" name="Google Shape;2797;p3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Variables continuas, correlación lineal entre variables, muestra adecuada, ausencia de valores extremos influyentes y adecuación muestral (medida KMO).</a:t>
            </a:r>
            <a:endParaRPr sz="2400"/>
          </a:p>
        </p:txBody>
      </p:sp>
      <p:grpSp>
        <p:nvGrpSpPr>
          <p:cNvPr id="2798" name="Google Shape;2798;p3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99" name="Google Shape;2799;p3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36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Elementos Matemáticos Básicos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10" name="Google Shape;2810;p36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Datos originales X pueden expresarse como X = LF + E, donde L es la matriz de cargas factoriales, F son los factores y E es el error o residual.</a:t>
            </a:r>
            <a:endParaRPr sz="2400"/>
          </a:p>
        </p:txBody>
      </p:sp>
      <p:grpSp>
        <p:nvGrpSpPr>
          <p:cNvPr id="2811" name="Google Shape;2811;p36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12" name="Google Shape;2812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7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Matriz de Covarianzas y Correlaciones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23" name="Google Shape;2823;p37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Se calcula la matriz de covarianzas o correlaciones entre variables para identificar la estructura latente. Variables altamente correlacionadas tienden a agruparse en factores.</a:t>
            </a:r>
            <a:endParaRPr sz="2400"/>
          </a:p>
        </p:txBody>
      </p:sp>
      <p:grpSp>
        <p:nvGrpSpPr>
          <p:cNvPr id="2824" name="Google Shape;2824;p37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25" name="Google Shape;2825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38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Cargas Factoriales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38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Las cargas factoriales representan la relación entre cada variable y cada factor. Valores cercanos a 1 o -1 indican fuerte asociación, mientras que cercanos a 0 indican débil asociación.</a:t>
            </a:r>
            <a:endParaRPr sz="2400"/>
          </a:p>
        </p:txBody>
      </p:sp>
      <p:grpSp>
        <p:nvGrpSpPr>
          <p:cNvPr id="2837" name="Google Shape;2837;p38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38" name="Google Shape;2838;p3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Rotación de Factores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Para facilitar la interpretación se aplican rotaciones ortogonales (Varimax) o no ortogonales (Promax) que redistribuyen las cargas manteniendo la solución.</a:t>
            </a:r>
            <a:endParaRPr sz="240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0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en Python - Preparación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62" name="Google Shape;2862;p40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from sklearn.datasets import load_iris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import pandas as pd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data = load_iris()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df = pd.DataFrame(data.data, columns=data.feature_names)</a:t>
            </a:r>
            <a:endParaRPr sz="2400" dirty="0"/>
          </a:p>
        </p:txBody>
      </p:sp>
      <p:grpSp>
        <p:nvGrpSpPr>
          <p:cNvPr id="2863" name="Google Shape;2863;p40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64" name="Google Shape;2864;p4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en Python - Análisis Factorial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Realizamos el análisis factorial con FactorAnalyzer: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from factor_analyzer import FactorAnalyzer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fa = FactorAnalyzer(n_factors=2, rotation='varimax')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fa.fit(df)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print(f'Factor cargas:\n{fa.loadings_}')</a:t>
            </a:r>
            <a:endParaRPr sz="2400" dirty="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Interpretación del Ejemplo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88" name="Google Shape;2888;p4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Observamos las cargas factoriales para entender qué variables se relacionan con cada factor. Esto nos ayuda a identificar agrupaciones naturales en los datos.</a:t>
            </a:r>
            <a:endParaRPr sz="2400"/>
          </a:p>
        </p:txBody>
      </p:sp>
      <p:grpSp>
        <p:nvGrpSpPr>
          <p:cNvPr id="2889" name="Google Shape;2889;p4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90" name="Google Shape;2890;p4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Aplicaciones Prácticas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1" name="Google Shape;2901;p4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análisis factorial se usa en psicología, marketing, ciencias de la salud y muchas áreas para entender construcciones complejas y facilitar la reducción dimensional.</a:t>
            </a:r>
            <a:endParaRPr sz="2400"/>
          </a:p>
        </p:txBody>
      </p:sp>
      <p:grpSp>
        <p:nvGrpSpPr>
          <p:cNvPr id="2902" name="Google Shape;2902;p4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03" name="Google Shape;2903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4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Taller Sencillo - Paso a Paso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14" name="Google Shape;2914;p4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Elija un dataset con varias variables correlacionadas.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Importe librerías: pandas, factor_analyzer.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Calcule matriz de correlaciones.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Aplique análisis factorial.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5. Interprete resultados y rotaciones.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6. Compare soluciones con distinto número de factores.</a:t>
            </a:r>
            <a:endParaRPr sz="2400"/>
          </a:p>
        </p:txBody>
      </p:sp>
      <p:grpSp>
        <p:nvGrpSpPr>
          <p:cNvPr id="2915" name="Google Shape;2915;p4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16" name="Google Shape;2916;p4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4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Conclusiones Finales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27" name="Google Shape;2927;p4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análisis factorial es una herramienta poderosa para reducir la complejidad de datos multivariados, identificar patrones subyacentes y facilitar la interpretación mediante factores latentes, con amplia aplicación práctica y soporte en Python para análisis y visualización.</a:t>
            </a:r>
            <a:endParaRPr sz="2400"/>
          </a:p>
        </p:txBody>
      </p:sp>
      <p:grpSp>
        <p:nvGrpSpPr>
          <p:cNvPr id="2928" name="Google Shape;2928;p4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29" name="Google Shape;2929;p4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510</Words>
  <Application>Microsoft Office PowerPoint</Application>
  <PresentationFormat>Presentación en pantalla (16:9)</PresentationFormat>
  <Paragraphs>42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PT Sans</vt:lpstr>
      <vt:lpstr>Roboto Condensed Light</vt:lpstr>
      <vt:lpstr>Exo</vt:lpstr>
      <vt:lpstr>Data Center Business Plan by Slidesgo</vt:lpstr>
      <vt:lpstr>Análisis Factorial para Análisis de Datos</vt:lpstr>
      <vt:lpstr>¿Qué es el Análisis Factorial?</vt:lpstr>
      <vt:lpstr>Objetivos del Análisis Factorial</vt:lpstr>
      <vt:lpstr>Tipos de Análisis Factorial</vt:lpstr>
      <vt:lpstr>Supuestos Básicos</vt:lpstr>
      <vt:lpstr>Elementos Matemáticos Básicos</vt:lpstr>
      <vt:lpstr>Matriz de Covarianzas y Correlaciones</vt:lpstr>
      <vt:lpstr>Cargas Factoriales</vt:lpstr>
      <vt:lpstr>Rotación de Factores</vt:lpstr>
      <vt:lpstr>Ejemplo en Python - Preparación</vt:lpstr>
      <vt:lpstr>Ejemplo en Python - Análisis Factorial</vt:lpstr>
      <vt:lpstr>Interpretación del Ejemplo</vt:lpstr>
      <vt:lpstr>Aplicaciones Prácticas</vt:lpstr>
      <vt:lpstr>Taller Sencillo - Paso a Paso</vt:lpstr>
      <vt:lpstr>Conclusiones Finales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Factorial para Análisis de Datos</dc:title>
  <cp:lastModifiedBy>andres hernandez</cp:lastModifiedBy>
  <cp:revision>2</cp:revision>
  <dcterms:modified xsi:type="dcterms:W3CDTF">2025-11-24T16:57:48Z</dcterms:modified>
</cp:coreProperties>
</file>