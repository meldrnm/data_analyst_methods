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PT Sans"/>
      <p:regular r:id="rId19"/>
      <p:bold r:id="rId20"/>
      <p:italic r:id="rId21"/>
      <p:boldItalic r:id="rId22"/>
    </p:embeddedFont>
    <p:embeddedFont>
      <p:font typeface="Ex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bold.fntdata"/><Relationship Id="rId22" Type="http://schemas.openxmlformats.org/officeDocument/2006/relationships/font" Target="fonts/PTSans-boldItalic.fntdata"/><Relationship Id="rId21" Type="http://schemas.openxmlformats.org/officeDocument/2006/relationships/font" Target="fonts/PTSans-italic.fntdata"/><Relationship Id="rId24" Type="http://schemas.openxmlformats.org/officeDocument/2006/relationships/font" Target="fonts/Exo-bold.fntdata"/><Relationship Id="rId23" Type="http://schemas.openxmlformats.org/officeDocument/2006/relationships/font" Target="fonts/Ex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xo-boldItalic.fntdata"/><Relationship Id="rId25" Type="http://schemas.openxmlformats.org/officeDocument/2006/relationships/font" Target="fonts/Ex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PTSans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9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1" name="Google Shape;26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f11272de0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5" name="Google Shape;2755;gf11272de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3a4a3d2f2c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8" name="Google Shape;2768;g3a4a3d2f2c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9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g3a4a3d2f2c9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1" name="Google Shape;2781;g3a4a3d2f2c9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2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3a4a3d2f2c9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3a4a3d2f2c9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5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3a4a3d2f2c9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7" name="Google Shape;2807;g3a4a3d2f2c9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8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g3a4a3d2f2c9_3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0" name="Google Shape;2820;g3a4a3d2f2c9_3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3a4a3d2f2c9_3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3a4a3d2f2c9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4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3a4a3d2f2c9_3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3a4a3d2f2c9_3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7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g3a4a3d2f2c9_3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9" name="Google Shape;2859;g3a4a3d2f2c9_3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0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a4a3d2f2c9_3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a4a3d2f2c9_3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3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3a4a3d2f2c9_3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5" name="Google Shape;2885;g3a4a3d2f2c9_3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6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3a4a3d2f2c9_3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8" name="Google Shape;2898;g3a4a3d2f2c9_3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9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3a4a3d2f2c9_3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3a4a3d2f2c9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" name="Google Shape;48;p2"/>
          <p:cNvSpPr txBox="1"/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rotWithShape="0" algn="bl">
              <a:schemeClr val="accent2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" name="Google Shape;49;p2"/>
          <p:cNvSpPr txBox="1"/>
          <p:nvPr>
            <p:ph idx="1" type="subTitle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3"/>
          <p:cNvSpPr txBox="1"/>
          <p:nvPr>
            <p:ph type="title"/>
          </p:nvPr>
        </p:nvSpPr>
        <p:spPr>
          <a:xfrm>
            <a:off x="1208500" y="2089070"/>
            <a:ext cx="67269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8" name="Google Shape;168;p3"/>
          <p:cNvSpPr txBox="1"/>
          <p:nvPr>
            <p:ph idx="1" type="subTitle"/>
          </p:nvPr>
        </p:nvSpPr>
        <p:spPr>
          <a:xfrm>
            <a:off x="1208650" y="3054420"/>
            <a:ext cx="6726900" cy="9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" name="Google Shape;169;p3"/>
          <p:cNvSpPr txBox="1"/>
          <p:nvPr>
            <p:ph hasCustomPrompt="1" idx="2" type="title"/>
          </p:nvPr>
        </p:nvSpPr>
        <p:spPr>
          <a:xfrm>
            <a:off x="3132450" y="1168380"/>
            <a:ext cx="28791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flipH="1" rot="10800000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flipH="1" rot="-5400000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0" name="Google Shape;270;p4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grpSp>
        <p:nvGrpSpPr>
          <p:cNvPr id="271" name="Google Shape;271;p4"/>
          <p:cNvGrpSpPr/>
          <p:nvPr/>
        </p:nvGrpSpPr>
        <p:grpSpPr>
          <a:xfrm flipH="1" rot="5400000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49" name="Google Shape;349;p5"/>
          <p:cNvSpPr txBox="1"/>
          <p:nvPr>
            <p:ph idx="2" type="title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5"/>
          <p:cNvSpPr txBox="1"/>
          <p:nvPr>
            <p:ph idx="1" type="subTitle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5"/>
          <p:cNvSpPr txBox="1"/>
          <p:nvPr>
            <p:ph idx="3" type="title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2" name="Google Shape;352;p5"/>
          <p:cNvSpPr txBox="1"/>
          <p:nvPr>
            <p:ph idx="4" type="subTitle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flipH="1" rot="5400000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flipH="1" rot="5400000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flipH="1" rot="10800000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" name="Google Shape;448;p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2" name="Google Shape;532;p7"/>
          <p:cNvSpPr txBox="1"/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33" name="Google Shape;533;p7"/>
          <p:cNvSpPr txBox="1"/>
          <p:nvPr>
            <p:ph idx="1" type="subTitle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4" name="Google Shape;624;p8"/>
          <p:cNvSpPr txBox="1"/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flipH="1" rot="-5400000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flipH="1" rot="-5400000">
            <a:off x="1059557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8" name="Google Shape;718;p9"/>
          <p:cNvSpPr txBox="1"/>
          <p:nvPr>
            <p:ph idx="1" type="subTitle"/>
          </p:nvPr>
        </p:nvSpPr>
        <p:spPr>
          <a:xfrm>
            <a:off x="1656875" y="2480906"/>
            <a:ext cx="5830200" cy="14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9" name="Google Shape;719;p9"/>
          <p:cNvSpPr txBox="1"/>
          <p:nvPr>
            <p:ph type="title"/>
          </p:nvPr>
        </p:nvSpPr>
        <p:spPr>
          <a:xfrm>
            <a:off x="1656875" y="1241200"/>
            <a:ext cx="5830200" cy="1169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flipH="1" rot="10800000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/>
          <p:nvPr>
            <p:ph idx="1" type="body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latin typeface="Exo"/>
                <a:ea typeface="Exo"/>
                <a:cs typeface="Exo"/>
                <a:sym typeface="Exo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2" name="Google Shape;822;p11"/>
          <p:cNvSpPr txBox="1"/>
          <p:nvPr>
            <p:ph hasCustomPrompt="1" type="title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/>
          <p:nvPr>
            <p:ph idx="1" type="subTitle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0" name="Google Shape;970;p1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71" name="Google Shape;971;p13"/>
          <p:cNvSpPr txBox="1"/>
          <p:nvPr>
            <p:ph idx="2" type="title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2" name="Google Shape;972;p13"/>
          <p:cNvSpPr txBox="1"/>
          <p:nvPr>
            <p:ph idx="1" type="subTitle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3" name="Google Shape;973;p13"/>
          <p:cNvSpPr txBox="1"/>
          <p:nvPr>
            <p:ph hasCustomPrompt="1" idx="3" type="title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/>
          <p:nvPr>
            <p:ph idx="4" type="title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5" name="Google Shape;975;p13"/>
          <p:cNvSpPr txBox="1"/>
          <p:nvPr>
            <p:ph idx="5" type="subTitle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6" name="Google Shape;976;p13"/>
          <p:cNvSpPr txBox="1"/>
          <p:nvPr>
            <p:ph hasCustomPrompt="1" idx="6" type="title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/>
          <p:nvPr>
            <p:ph idx="7" type="title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8" name="Google Shape;978;p13"/>
          <p:cNvSpPr txBox="1"/>
          <p:nvPr>
            <p:ph idx="8" type="subTitle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9" name="Google Shape;979;p13"/>
          <p:cNvSpPr txBox="1"/>
          <p:nvPr>
            <p:ph hasCustomPrompt="1" idx="9" type="title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/>
          <p:nvPr>
            <p:ph idx="13" type="title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1" name="Google Shape;981;p13"/>
          <p:cNvSpPr txBox="1"/>
          <p:nvPr>
            <p:ph idx="14" type="subTitle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2" name="Google Shape;982;p13"/>
          <p:cNvSpPr txBox="1"/>
          <p:nvPr>
            <p:ph hasCustomPrompt="1" idx="15" type="title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/>
          <p:nvPr>
            <p:ph idx="16" type="title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4" name="Google Shape;984;p13"/>
          <p:cNvSpPr txBox="1"/>
          <p:nvPr>
            <p:ph idx="17" type="subTitle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5" name="Google Shape;985;p13"/>
          <p:cNvSpPr txBox="1"/>
          <p:nvPr>
            <p:ph hasCustomPrompt="1" idx="18" type="title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/>
          <p:nvPr>
            <p:ph idx="19" type="title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7" name="Google Shape;987;p13"/>
          <p:cNvSpPr txBox="1"/>
          <p:nvPr>
            <p:ph idx="20" type="subTitle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8" name="Google Shape;988;p13"/>
          <p:cNvSpPr txBox="1"/>
          <p:nvPr>
            <p:ph hasCustomPrompt="1" idx="21" type="title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flipH="1" rot="5400000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3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3" name="Google Shape;1103;p14"/>
          <p:cNvSpPr txBox="1"/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4" name="Google Shape;1104;p14"/>
          <p:cNvSpPr txBox="1"/>
          <p:nvPr>
            <p:ph idx="1" type="subTitle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05" name="Google Shape;1105;p14"/>
          <p:cNvSpPr/>
          <p:nvPr/>
        </p:nvSpPr>
        <p:spPr>
          <a:xfrm flipH="1" rot="-5400000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BLANK_4"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8" name="Google Shape;1188;p15"/>
          <p:cNvSpPr txBox="1"/>
          <p:nvPr>
            <p:ph type="title"/>
          </p:nvPr>
        </p:nvSpPr>
        <p:spPr>
          <a:xfrm>
            <a:off x="864525" y="2215425"/>
            <a:ext cx="6772200" cy="813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89" name="Google Shape;1189;p15"/>
          <p:cNvSpPr txBox="1"/>
          <p:nvPr>
            <p:ph idx="1" type="subTitle"/>
          </p:nvPr>
        </p:nvSpPr>
        <p:spPr>
          <a:xfrm>
            <a:off x="864525" y="3045400"/>
            <a:ext cx="6646200" cy="7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90" name="Google Shape;1190;p15"/>
          <p:cNvSpPr txBox="1"/>
          <p:nvPr>
            <p:ph hasCustomPrompt="1" idx="2" type="title"/>
          </p:nvPr>
        </p:nvSpPr>
        <p:spPr>
          <a:xfrm>
            <a:off x="864525" y="910725"/>
            <a:ext cx="2130300" cy="1304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5"/>
          <p:cNvSpPr/>
          <p:nvPr/>
        </p:nvSpPr>
        <p:spPr>
          <a:xfrm flipH="1" rot="10800000">
            <a:off x="2891470" y="4842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BLANK_8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Google Shape;1263;p16"/>
          <p:cNvSpPr txBox="1"/>
          <p:nvPr>
            <p:ph type="title"/>
          </p:nvPr>
        </p:nvSpPr>
        <p:spPr>
          <a:xfrm>
            <a:off x="713100" y="2310138"/>
            <a:ext cx="75834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64" name="Google Shape;1264;p16"/>
          <p:cNvSpPr txBox="1"/>
          <p:nvPr>
            <p:ph idx="1" type="subTitle"/>
          </p:nvPr>
        </p:nvSpPr>
        <p:spPr>
          <a:xfrm>
            <a:off x="3567000" y="3208800"/>
            <a:ext cx="4729500" cy="7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65" name="Google Shape;1265;p16"/>
          <p:cNvSpPr txBox="1"/>
          <p:nvPr>
            <p:ph hasCustomPrompt="1" idx="2" type="title"/>
          </p:nvPr>
        </p:nvSpPr>
        <p:spPr>
          <a:xfrm>
            <a:off x="5961000" y="1332575"/>
            <a:ext cx="23355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flipH="1" rot="10800000">
            <a:off x="2358070" y="4766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9"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3" name="Google Shape;1343;p17"/>
          <p:cNvSpPr txBox="1"/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44" name="Google Shape;1344;p17"/>
          <p:cNvSpPr txBox="1"/>
          <p:nvPr>
            <p:ph idx="1" type="subTitle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6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0" name="Google Shape;1430;p18"/>
          <p:cNvSpPr txBox="1"/>
          <p:nvPr>
            <p:ph type="title"/>
          </p:nvPr>
        </p:nvSpPr>
        <p:spPr>
          <a:xfrm>
            <a:off x="865500" y="753525"/>
            <a:ext cx="4466700" cy="11415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31" name="Google Shape;1431;p18"/>
          <p:cNvSpPr txBox="1"/>
          <p:nvPr>
            <p:ph idx="1" type="subTitle"/>
          </p:nvPr>
        </p:nvSpPr>
        <p:spPr>
          <a:xfrm>
            <a:off x="865500" y="1964775"/>
            <a:ext cx="4466700" cy="24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BLANK_10"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1" name="Google Shape;1531;p19"/>
          <p:cNvSpPr txBox="1"/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2" name="Google Shape;1532;p19"/>
          <p:cNvSpPr txBox="1"/>
          <p:nvPr>
            <p:ph idx="1" type="subTitle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3" name="Google Shape;1533;p19"/>
          <p:cNvSpPr txBox="1"/>
          <p:nvPr>
            <p:ph idx="2" type="title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4" name="Google Shape;1534;p19"/>
          <p:cNvSpPr txBox="1"/>
          <p:nvPr>
            <p:ph idx="3" type="subTitle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6" name="Google Shape;1566;p19"/>
          <p:cNvSpPr txBox="1"/>
          <p:nvPr>
            <p:ph idx="4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BLANK_17"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7" name="Google Shape;1607;p20"/>
          <p:cNvSpPr txBox="1"/>
          <p:nvPr>
            <p:ph idx="1" type="subTitle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08" name="Google Shape;1608;p20"/>
          <p:cNvSpPr txBox="1"/>
          <p:nvPr>
            <p:ph idx="2" type="subTitle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6" name="Google Shape;1656;p20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5"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7" name="Google Shape;1697;p2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698" name="Google Shape;1698;p21"/>
          <p:cNvSpPr txBox="1"/>
          <p:nvPr>
            <p:ph idx="2" type="title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9" name="Google Shape;1699;p21"/>
          <p:cNvSpPr txBox="1"/>
          <p:nvPr>
            <p:ph idx="1" type="subTitle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0" name="Google Shape;1700;p21"/>
          <p:cNvSpPr txBox="1"/>
          <p:nvPr>
            <p:ph idx="3" type="title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1" name="Google Shape;1701;p21"/>
          <p:cNvSpPr txBox="1"/>
          <p:nvPr>
            <p:ph idx="4" type="subTitle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2" name="Google Shape;1702;p21"/>
          <p:cNvSpPr txBox="1"/>
          <p:nvPr>
            <p:ph idx="5" type="title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3" name="Google Shape;1703;p21"/>
          <p:cNvSpPr txBox="1"/>
          <p:nvPr>
            <p:ph idx="6" type="subTitle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flipH="1" rot="5400000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flipH="1" rot="-5400000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6"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0" name="Google Shape;1780;p22"/>
          <p:cNvSpPr txBox="1"/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1" name="Google Shape;1781;p22"/>
          <p:cNvSpPr txBox="1"/>
          <p:nvPr>
            <p:ph idx="1" type="subTitle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2" name="Google Shape;1782;p22"/>
          <p:cNvSpPr txBox="1"/>
          <p:nvPr>
            <p:ph idx="2" type="title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3" name="Google Shape;1783;p22"/>
          <p:cNvSpPr txBox="1"/>
          <p:nvPr>
            <p:ph idx="3" type="subTitle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4" name="Google Shape;1784;p22"/>
          <p:cNvSpPr txBox="1"/>
          <p:nvPr>
            <p:ph idx="4" type="title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5" name="Google Shape;1785;p22"/>
          <p:cNvSpPr txBox="1"/>
          <p:nvPr>
            <p:ph idx="5" type="subTitle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6" name="Google Shape;1786;p22"/>
          <p:cNvSpPr txBox="1"/>
          <p:nvPr>
            <p:ph idx="6" type="title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7" name="Google Shape;1787;p22"/>
          <p:cNvSpPr txBox="1"/>
          <p:nvPr>
            <p:ph idx="7" type="subTitle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/>
          <p:nvPr>
            <p:ph idx="8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7"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4" name="Google Shape;1894;p2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95" name="Google Shape;1895;p23"/>
          <p:cNvSpPr txBox="1"/>
          <p:nvPr>
            <p:ph idx="2" type="title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6" name="Google Shape;1896;p23"/>
          <p:cNvSpPr txBox="1"/>
          <p:nvPr>
            <p:ph idx="1" type="subTitle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7" name="Google Shape;1897;p23"/>
          <p:cNvSpPr txBox="1"/>
          <p:nvPr>
            <p:ph idx="3" type="title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8" name="Google Shape;1898;p23"/>
          <p:cNvSpPr txBox="1"/>
          <p:nvPr>
            <p:ph idx="4" type="subTitle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9" name="Google Shape;1899;p23"/>
          <p:cNvSpPr txBox="1"/>
          <p:nvPr>
            <p:ph idx="5" type="title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0" name="Google Shape;1900;p23"/>
          <p:cNvSpPr txBox="1"/>
          <p:nvPr>
            <p:ph idx="6" type="subTitle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1" name="Google Shape;1901;p23"/>
          <p:cNvSpPr txBox="1"/>
          <p:nvPr>
            <p:ph idx="7" type="title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2" name="Google Shape;1902;p23"/>
          <p:cNvSpPr txBox="1"/>
          <p:nvPr>
            <p:ph idx="8" type="subTitle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3" name="Google Shape;1903;p23"/>
          <p:cNvSpPr txBox="1"/>
          <p:nvPr>
            <p:ph idx="9" type="title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4" name="Google Shape;1904;p23"/>
          <p:cNvSpPr txBox="1"/>
          <p:nvPr>
            <p:ph idx="13" type="subTitle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5" name="Google Shape;1905;p23"/>
          <p:cNvSpPr txBox="1"/>
          <p:nvPr>
            <p:ph idx="14" type="title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6" name="Google Shape;1906;p23"/>
          <p:cNvSpPr txBox="1"/>
          <p:nvPr>
            <p:ph idx="15" type="subTitle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5"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1" name="Google Shape;2111;p2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4"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9" name="Google Shape;2219;p2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1"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0" name="Google Shape;2260;p2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61" name="Google Shape;2261;p26"/>
          <p:cNvSpPr txBox="1"/>
          <p:nvPr>
            <p:ph idx="2" type="title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2" name="Google Shape;2262;p26"/>
          <p:cNvSpPr txBox="1"/>
          <p:nvPr>
            <p:ph idx="1" type="subTitle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3" name="Google Shape;2263;p26"/>
          <p:cNvSpPr txBox="1"/>
          <p:nvPr>
            <p:ph hasCustomPrompt="1" idx="3" type="title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/>
          <p:nvPr>
            <p:ph idx="4" type="title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5" name="Google Shape;2265;p26"/>
          <p:cNvSpPr txBox="1"/>
          <p:nvPr>
            <p:ph idx="5" type="subTitle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6" name="Google Shape;2266;p26"/>
          <p:cNvSpPr txBox="1"/>
          <p:nvPr>
            <p:ph hasCustomPrompt="1" idx="6" type="title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/>
          <p:nvPr>
            <p:ph idx="7" type="title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8" name="Google Shape;2268;p26"/>
          <p:cNvSpPr txBox="1"/>
          <p:nvPr>
            <p:ph idx="8" type="subTitle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9" name="Google Shape;2269;p26"/>
          <p:cNvSpPr txBox="1"/>
          <p:nvPr>
            <p:ph hasCustomPrompt="1" idx="9" type="title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2"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7" name="Google Shape;2347;p27"/>
          <p:cNvSpPr txBox="1"/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48" name="Google Shape;2348;p27"/>
          <p:cNvSpPr txBox="1"/>
          <p:nvPr>
            <p:ph idx="1" type="subTitle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3"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2"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 1">
  <p:cSld name="BLANK_12_1">
    <p:spTree>
      <p:nvGrpSpPr>
        <p:cNvPr id="2649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b="1"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2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31"/>
          <p:cNvSpPr txBox="1"/>
          <p:nvPr>
            <p:ph idx="1" type="subTitle"/>
          </p:nvPr>
        </p:nvSpPr>
        <p:spPr>
          <a:xfrm>
            <a:off x="1675175" y="3403402"/>
            <a:ext cx="5793600" cy="9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Conceptos, matemáticas, ejemplo en Python y ejercicio práctico</a:t>
            </a:r>
            <a:endParaRPr/>
          </a:p>
        </p:txBody>
      </p:sp>
      <p:grpSp>
        <p:nvGrpSpPr>
          <p:cNvPr id="2694" name="Google Shape;2694;p31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95" name="Google Shape;2695;p3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1" name="Google Shape;2701;p31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2" name="Google Shape;2702;p3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8" name="Google Shape;2708;p31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09" name="Google Shape;2709;p3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4" name="Google Shape;2714;p31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15" name="Google Shape;2715;p3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16" name="Google Shape;2716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7" name="Google Shape;2717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8" name="Google Shape;2718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9" name="Google Shape;2719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0" name="Google Shape;2720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1" name="Google Shape;2721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2" name="Google Shape;2722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3" name="Google Shape;2723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4" name="Google Shape;2724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5" name="Google Shape;2725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26" name="Google Shape;2726;p3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27" name="Google Shape;2727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8" name="Google Shape;2728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9" name="Google Shape;2729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0" name="Google Shape;2730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1" name="Google Shape;2731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2" name="Google Shape;2732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5" name="Google Shape;2735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6" name="Google Shape;2736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37" name="Google Shape;2737;p3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38" name="Google Shape;2738;p3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2" name="Google Shape;2752;p31"/>
          <p:cNvSpPr txBox="1"/>
          <p:nvPr>
            <p:ph type="ctrTitle"/>
          </p:nvPr>
        </p:nvSpPr>
        <p:spPr>
          <a:xfrm>
            <a:off x="766050" y="1132125"/>
            <a:ext cx="7592100" cy="19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T Sans"/>
                <a:ea typeface="PT Sans"/>
                <a:cs typeface="PT Sans"/>
                <a:sym typeface="PT Sans"/>
              </a:rPr>
              <a:t>Regresión Lineal para Análisis de Datos</a:t>
            </a:r>
            <a:endParaRPr sz="60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6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32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Introducción a la Regresión Lineal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58" name="Google Shape;2758;p32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regresión lineal es una técnica estadística que permite modelar la relación entre una variable dependiente y una o más variables independientes mediante una función lineal.</a:t>
            </a:r>
            <a:endParaRPr sz="2400"/>
          </a:p>
        </p:txBody>
      </p:sp>
      <p:grpSp>
        <p:nvGrpSpPr>
          <p:cNvPr id="2759" name="Google Shape;2759;p3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60" name="Google Shape;2760;p3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3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3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9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33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Importancia de la Regresión Lineal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71" name="Google Shape;2771;p33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Se utiliza para predecir valores, entender relaciones entre variables y es base para modelos más complejos en análisis de datos y machine learning.</a:t>
            </a:r>
            <a:endParaRPr sz="2400"/>
          </a:p>
        </p:txBody>
      </p:sp>
      <p:grpSp>
        <p:nvGrpSpPr>
          <p:cNvPr id="2772" name="Google Shape;2772;p3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73" name="Google Shape;2773;p3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3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3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3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3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3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34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Modelo Matemático de Regresión Lineal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84" name="Google Shape;2784;p34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El modelo se define como y = β0 + β1x + ε, donde y es la variable dependiente, x la independiente, β0 el intercepto, β1 la pendiente y ε el error aleatorio.</a:t>
            </a:r>
            <a:endParaRPr sz="2400"/>
          </a:p>
        </p:txBody>
      </p:sp>
      <p:grpSp>
        <p:nvGrpSpPr>
          <p:cNvPr id="2785" name="Google Shape;2785;p3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86" name="Google Shape;2786;p3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3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3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3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3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5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35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Objetivo del Modelo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7" name="Google Shape;2797;p35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Estimamos los parámetros β0 y β1 para minimizar la suma de los cuadrados de los residuos (diferencias entre valores observados y predichos).</a:t>
            </a:r>
            <a:endParaRPr sz="2400"/>
          </a:p>
        </p:txBody>
      </p:sp>
      <p:grpSp>
        <p:nvGrpSpPr>
          <p:cNvPr id="2798" name="Google Shape;2798;p3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99" name="Google Shape;2799;p3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8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36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Cálculo de Parámetros por Mínimos Cuadrados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10" name="Google Shape;2810;p36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Las fórmulas son: β1 = Σ((xi - x̄)(yi - ȳ)) / Σ(xi - x̄)^2 y β0 = ȳ - β1x̄, donde x̄ y ȳ son medias de x e y respectivamente.</a:t>
            </a:r>
            <a:endParaRPr sz="2400"/>
          </a:p>
        </p:txBody>
      </p:sp>
      <p:grpSp>
        <p:nvGrpSpPr>
          <p:cNvPr id="2811" name="Google Shape;2811;p36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12" name="Google Shape;2812;p3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7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Interpretación de los Parámetros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23" name="Google Shape;2823;p37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β1 indica el cambio esperado en y por unidad de cambio en x; β0 representa el valor esperado de y cuando x es cero.</a:t>
            </a:r>
            <a:endParaRPr sz="2400"/>
          </a:p>
        </p:txBody>
      </p:sp>
      <p:grpSp>
        <p:nvGrpSpPr>
          <p:cNvPr id="2824" name="Google Shape;2824;p37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25" name="Google Shape;2825;p37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4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38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Supuestos del Modelo de Regresión Lineal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36" name="Google Shape;2836;p38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Linealidad, independencia, homocedasticidad, normalidad de errores y ausencia de multicolinealidad son supuestos clave para validez del modelo.</a:t>
            </a:r>
            <a:endParaRPr sz="2400"/>
          </a:p>
        </p:txBody>
      </p:sp>
      <p:grpSp>
        <p:nvGrpSpPr>
          <p:cNvPr id="2837" name="Google Shape;2837;p38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38" name="Google Shape;2838;p3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3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3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3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3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3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7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9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Código en Python: Preparación de Datos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49" name="Google Shape;2849;p39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import numpy as np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import matplotlib.pyplot as plt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# Datos de ejemplo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x = np.array([1, 2, 3, 4, 5])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y = np.array([2, 4, 5, 4, 5])</a:t>
            </a:r>
            <a:endParaRPr sz="2400"/>
          </a:p>
        </p:txBody>
      </p:sp>
      <p:grpSp>
        <p:nvGrpSpPr>
          <p:cNvPr id="2850" name="Google Shape;2850;p39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51" name="Google Shape;2851;p3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0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40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Código en Python: Cálculo de Parámetros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62" name="Google Shape;2862;p40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x_mean = np.mean(x)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y_mean = np.mean(y)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β1 = np.sum((x - x_mean)*(y - y_mean)) / np.sum((x - x_mean)**2)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β0 = y_mean - β1 * x_mean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print(f'β0 = {β0}')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print(f'β1 = {β1}')</a:t>
            </a:r>
            <a:endParaRPr sz="2400"/>
          </a:p>
        </p:txBody>
      </p:sp>
      <p:grpSp>
        <p:nvGrpSpPr>
          <p:cNvPr id="2863" name="Google Shape;2863;p40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64" name="Google Shape;2864;p40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3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41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Código en Python: Visualización del Modelo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75" name="Google Shape;2875;p41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plt.scatter(x, y, color='blue', label='Datos')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plt.plot(x, β0 + β1 * x, color='red', label='Modelo')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plt.xlabel('X')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plt.ylabel('Y')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plt.legend()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plt.show()</a:t>
            </a:r>
            <a:endParaRPr sz="2400"/>
          </a:p>
        </p:txBody>
      </p:sp>
      <p:grpSp>
        <p:nvGrpSpPr>
          <p:cNvPr id="2876" name="Google Shape;2876;p41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77" name="Google Shape;2877;p4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6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42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Validación del Modelo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88" name="Google Shape;2888;p42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Se puede usar el coeficiente de determinación R² para medir qué porcentaje de la variación de y explica el modelo.</a:t>
            </a:r>
            <a:endParaRPr sz="2400"/>
          </a:p>
        </p:txBody>
      </p:sp>
      <p:grpSp>
        <p:nvGrpSpPr>
          <p:cNvPr id="2889" name="Google Shape;2889;p4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90" name="Google Shape;2890;p4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4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4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4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4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4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9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43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Ejercicio Práctico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01" name="Google Shape;2901;p43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Usa el siguiente conjunto de datos y calcula los parámetros β0 y β1: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x = [2, 4, 6, 8, 10]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y = [3, 7, 5, 11, 14]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Luego, grafica el modelo de regresión lineal.</a:t>
            </a:r>
            <a:endParaRPr sz="2400"/>
          </a:p>
        </p:txBody>
      </p:sp>
      <p:grpSp>
        <p:nvGrpSpPr>
          <p:cNvPr id="2902" name="Google Shape;2902;p4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03" name="Google Shape;2903;p4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4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4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4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4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4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44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Conclusiones Finales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14" name="Google Shape;2914;p44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regresión lineal es una herramienta fundamental para análisis y predicción. Entender su fundamento matemático, aplicarlo en código y validar resultados es clave para su correcto uso.</a:t>
            </a:r>
            <a:endParaRPr sz="2400"/>
          </a:p>
        </p:txBody>
      </p:sp>
      <p:grpSp>
        <p:nvGrpSpPr>
          <p:cNvPr id="2915" name="Google Shape;2915;p4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16" name="Google Shape;2916;p4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4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4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4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4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4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